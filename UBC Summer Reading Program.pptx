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7" r:id="rId7"/>
    <p:sldId id="259" r:id="rId8"/>
    <p:sldId id="260" r:id="rId9"/>
    <p:sldId id="261"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3F95B3-BA09-4A21-8C5C-598C937D535F}" v="137" dt="2026-07-26T14:58:09.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liu269@student.ubc.ca" userId="4c55bb36-5cdd-4107-aa23-c6af9563d3a7" providerId="ADAL" clId="{A3BE026F-389C-49AB-9411-C31EA12328FE}"/>
    <pc:docChg chg="modSld">
      <pc:chgData name="jliu269@student.ubc.ca" userId="4c55bb36-5cdd-4107-aa23-c6af9563d3a7" providerId="ADAL" clId="{A3BE026F-389C-49AB-9411-C31EA12328FE}" dt="2026-07-26T14:58:09.989" v="136" actId="113"/>
      <pc:docMkLst>
        <pc:docMk/>
      </pc:docMkLst>
      <pc:sldChg chg="modSp">
        <pc:chgData name="jliu269@student.ubc.ca" userId="4c55bb36-5cdd-4107-aa23-c6af9563d3a7" providerId="ADAL" clId="{A3BE026F-389C-49AB-9411-C31EA12328FE}" dt="2026-07-26T14:45:24.437" v="73" actId="113"/>
        <pc:sldMkLst>
          <pc:docMk/>
          <pc:sldMk cId="1488692951" sldId="259"/>
        </pc:sldMkLst>
        <pc:spChg chg="mod">
          <ac:chgData name="jliu269@student.ubc.ca" userId="4c55bb36-5cdd-4107-aa23-c6af9563d3a7" providerId="ADAL" clId="{A3BE026F-389C-49AB-9411-C31EA12328FE}" dt="2026-07-26T14:45:24.437" v="73" actId="113"/>
          <ac:spMkLst>
            <pc:docMk/>
            <pc:sldMk cId="1488692951" sldId="259"/>
            <ac:spMk id="3" creationId="{807B0493-0061-111E-8AFA-8899DAE9E286}"/>
          </ac:spMkLst>
        </pc:spChg>
      </pc:sldChg>
      <pc:sldChg chg="modSp">
        <pc:chgData name="jliu269@student.ubc.ca" userId="4c55bb36-5cdd-4107-aa23-c6af9563d3a7" providerId="ADAL" clId="{A3BE026F-389C-49AB-9411-C31EA12328FE}" dt="2026-07-26T14:52:50.922" v="133" actId="113"/>
        <pc:sldMkLst>
          <pc:docMk/>
          <pc:sldMk cId="3169316581" sldId="260"/>
        </pc:sldMkLst>
        <pc:spChg chg="mod">
          <ac:chgData name="jliu269@student.ubc.ca" userId="4c55bb36-5cdd-4107-aa23-c6af9563d3a7" providerId="ADAL" clId="{A3BE026F-389C-49AB-9411-C31EA12328FE}" dt="2026-07-26T14:52:50.922" v="133" actId="113"/>
          <ac:spMkLst>
            <pc:docMk/>
            <pc:sldMk cId="3169316581" sldId="260"/>
            <ac:spMk id="3" creationId="{460D0CA2-77AA-C9D8-71FC-DD6E394CC49F}"/>
          </ac:spMkLst>
        </pc:spChg>
      </pc:sldChg>
      <pc:sldChg chg="modSp">
        <pc:chgData name="jliu269@student.ubc.ca" userId="4c55bb36-5cdd-4107-aa23-c6af9563d3a7" providerId="ADAL" clId="{A3BE026F-389C-49AB-9411-C31EA12328FE}" dt="2026-07-26T14:58:09.989" v="136" actId="113"/>
        <pc:sldMkLst>
          <pc:docMk/>
          <pc:sldMk cId="3469685263" sldId="261"/>
        </pc:sldMkLst>
        <pc:spChg chg="mod">
          <ac:chgData name="jliu269@student.ubc.ca" userId="4c55bb36-5cdd-4107-aa23-c6af9563d3a7" providerId="ADAL" clId="{A3BE026F-389C-49AB-9411-C31EA12328FE}" dt="2026-07-26T14:58:09.989" v="136" actId="113"/>
          <ac:spMkLst>
            <pc:docMk/>
            <pc:sldMk cId="3469685263" sldId="261"/>
            <ac:spMk id="3" creationId="{E7F4B26B-FF1D-F6A6-1126-4A0C116FC9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978E6-9A55-10DB-EF16-49544781A6E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8F922AD-91B7-EDC9-C134-81B0C8A0B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AA7EA9-EF82-B413-F017-86577489F21A}"/>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E73E8000-F9E1-F3D1-E1E8-FA589A6C7E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5A988B7-D445-2A5D-BA19-5E199438054C}"/>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212743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029DA3-C960-8FB8-CBD9-E1569E7CEF2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F88272-4FCE-2EF5-40AC-9F8EB04335A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193E70-FA4D-894C-9166-657969FB60BE}"/>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31B05078-1FD2-C53A-2530-006DAF68EA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0F5069-A034-C2F3-D6FD-DB6A5746B9A3}"/>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61922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B87CC2-8D8B-2906-CF08-81AC00B1BC9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C49997-87B5-DD8E-E1FA-A40BFC8B00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FE0EEE3-92B6-E0E5-8CA1-6D649ED6F332}"/>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F67768AA-EEEB-CFA3-ADB7-180201FF21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BF3AD7-9A6E-58E6-77B2-492FB358BC30}"/>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2721059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0FFBE2-49F8-3897-578D-9920F72C958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6A4E18-A7DB-D85E-0F23-D7EE2399E66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9CA4893-BBBF-FCCB-2CAC-B94FE5A273A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7BF3591-2C41-65D9-C4A5-B08ED8613458}"/>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6" name="页脚占位符 5">
            <a:extLst>
              <a:ext uri="{FF2B5EF4-FFF2-40B4-BE49-F238E27FC236}">
                <a16:creationId xmlns:a16="http://schemas.microsoft.com/office/drawing/2014/main" id="{B790DAB6-82D1-D126-5451-EA8A261315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123EEB-ECE0-E88A-06AF-F1A452C1A097}"/>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3972068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AE97FF-3ACF-D727-BBFF-DC41A71A575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35DE655-E462-D9C0-8649-CC9F5F7B08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32E011E-A1A7-23DB-4A84-9BC7FDD8E29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18A6DE9-4657-4575-B2B0-8E3983E07B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9E17D77-898B-A6FC-D1EC-25F86B2DD46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6E4877B-0057-764C-E9EF-126E21E8A79B}"/>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8" name="页脚占位符 7">
            <a:extLst>
              <a:ext uri="{FF2B5EF4-FFF2-40B4-BE49-F238E27FC236}">
                <a16:creationId xmlns:a16="http://schemas.microsoft.com/office/drawing/2014/main" id="{96D4D2EA-B866-7E92-258E-CD853453893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C198260-B5E2-C022-569B-4014FF9E7EDD}"/>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1282981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1650C7-FB2F-9834-3653-89BE3DCAABF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DA89D51-9031-C053-FDAC-A9623C1E549D}"/>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4" name="页脚占位符 3">
            <a:extLst>
              <a:ext uri="{FF2B5EF4-FFF2-40B4-BE49-F238E27FC236}">
                <a16:creationId xmlns:a16="http://schemas.microsoft.com/office/drawing/2014/main" id="{0B9F8E42-4000-997E-180E-0E2B4E0DB79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62406DE-6EAC-C42A-2A5C-BDA11360F433}"/>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1882586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90335FB-1925-6B05-384C-CEFF5EE3FF58}"/>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3" name="页脚占位符 2">
            <a:extLst>
              <a:ext uri="{FF2B5EF4-FFF2-40B4-BE49-F238E27FC236}">
                <a16:creationId xmlns:a16="http://schemas.microsoft.com/office/drawing/2014/main" id="{B5927E87-B749-246C-1216-5CCF03F5826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99652C-0202-447F-3AC6-75311BC5865C}"/>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1924335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39330-EB67-65A6-2DF8-CC1FFCEBC8D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33384E6-E9DB-14DC-D88E-03904466FA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EB011D1-3DC4-63ED-7EA4-97B3E9519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89357B-7355-F449-A470-117DDF25C7CF}"/>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6" name="页脚占位符 5">
            <a:extLst>
              <a:ext uri="{FF2B5EF4-FFF2-40B4-BE49-F238E27FC236}">
                <a16:creationId xmlns:a16="http://schemas.microsoft.com/office/drawing/2014/main" id="{B2C1AF95-4CF4-593B-59AE-1E85AF15F66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1EF7F4-628B-09A0-391B-3EE6D8FF5B99}"/>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227978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DA10B6-5ADA-CADC-5EFC-9760070A2E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F628A97-4B5A-0ECA-BAE0-DBCEEC785F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34DE049-88CC-C481-5C04-22AA5D2EB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F27706E-0EB5-430F-C8CF-2F936E7C89D5}"/>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6" name="页脚占位符 5">
            <a:extLst>
              <a:ext uri="{FF2B5EF4-FFF2-40B4-BE49-F238E27FC236}">
                <a16:creationId xmlns:a16="http://schemas.microsoft.com/office/drawing/2014/main" id="{B1D65151-1EE9-81BF-AB42-2ED650C5C9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4FD86B-BA5B-4478-8781-45FB1881F31F}"/>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2073323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57181D-8F40-2CCC-599D-912EC12969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00440EC-CC1A-2DED-0869-B8C332E9A00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1555830-6614-59F7-0B02-3980504ED3A2}"/>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E94D54AB-DEE5-C5AB-8BCC-A2ECB35250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E52F70-1619-9F28-54E2-E1ABB9E15AA5}"/>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372853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E5AF91-9093-FC1D-6D23-A04BAE82BE0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7CC0E8-1E8E-9A0F-72BF-C102CF5D789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182A7F-0DB2-4BE9-D265-129DFF15B3A9}"/>
              </a:ext>
            </a:extLst>
          </p:cNvPr>
          <p:cNvSpPr>
            <a:spLocks noGrp="1"/>
          </p:cNvSpPr>
          <p:nvPr>
            <p:ph type="dt" sz="half" idx="10"/>
          </p:nvPr>
        </p:nvSpPr>
        <p:spPr/>
        <p:txBody>
          <a:body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39854DB9-81C3-E112-DF95-42B8420F73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394B0B-5EE5-A166-2750-CB321223BE5C}"/>
              </a:ext>
            </a:extLst>
          </p:cNvPr>
          <p:cNvSpPr>
            <a:spLocks noGrp="1"/>
          </p:cNvSpPr>
          <p:nvPr>
            <p:ph type="sldNum" sz="quarter" idx="12"/>
          </p:nvPr>
        </p:nvSpPr>
        <p:spPr/>
        <p:txBody>
          <a:body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351080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9A10E6D-EDB8-1ACA-F2AE-49538ADDF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290FC91-91ED-45D1-D76E-5E8ECFB9D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5D6215-E61B-CC05-8BEA-C7B0973422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75F240-8774-4757-B535-39BDABB95828}" type="datetimeFigureOut">
              <a:rPr lang="zh-CN" altLang="en-US" smtClean="0"/>
              <a:t>2026/7/26</a:t>
            </a:fld>
            <a:endParaRPr lang="zh-CN" altLang="en-US"/>
          </a:p>
        </p:txBody>
      </p:sp>
      <p:sp>
        <p:nvSpPr>
          <p:cNvPr id="5" name="页脚占位符 4">
            <a:extLst>
              <a:ext uri="{FF2B5EF4-FFF2-40B4-BE49-F238E27FC236}">
                <a16:creationId xmlns:a16="http://schemas.microsoft.com/office/drawing/2014/main" id="{B90B9E74-DE8D-47D4-BC85-E2E19E68F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4FDCBDE-887A-C4BE-3857-FF8B3BD9F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F90F8F-13BB-4D6A-8BC5-3540542BFA76}" type="slidenum">
              <a:rPr lang="zh-CN" altLang="en-US" smtClean="0"/>
              <a:t>‹#›</a:t>
            </a:fld>
            <a:endParaRPr lang="zh-CN" altLang="en-US"/>
          </a:p>
        </p:txBody>
      </p:sp>
    </p:spTree>
    <p:extLst>
      <p:ext uri="{BB962C8B-B14F-4D97-AF65-F5344CB8AC3E}">
        <p14:creationId xmlns:p14="http://schemas.microsoft.com/office/powerpoint/2010/main" val="2278938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C2C85B-5548-42F3-8A15-83087F5AA610}"/>
              </a:ext>
            </a:extLst>
          </p:cNvPr>
          <p:cNvSpPr>
            <a:spLocks noGrp="1"/>
          </p:cNvSpPr>
          <p:nvPr>
            <p:ph type="ctrTitle"/>
          </p:nvPr>
        </p:nvSpPr>
        <p:spPr/>
        <p:txBody>
          <a:bodyPr>
            <a:normAutofit fontScale="90000"/>
          </a:bodyPr>
          <a:lstStyle/>
          <a:p>
            <a:r>
              <a:rPr lang="en-US" altLang="zh-CN" dirty="0"/>
              <a:t>Frame, Chebyshev conjugate gradient Algorithms </a:t>
            </a:r>
            <a:endParaRPr lang="zh-CN" altLang="en-US" dirty="0"/>
          </a:p>
        </p:txBody>
      </p:sp>
      <p:sp>
        <p:nvSpPr>
          <p:cNvPr id="3" name="副标题 2">
            <a:extLst>
              <a:ext uri="{FF2B5EF4-FFF2-40B4-BE49-F238E27FC236}">
                <a16:creationId xmlns:a16="http://schemas.microsoft.com/office/drawing/2014/main" id="{088FB04D-158A-83BE-1E1E-48ADC1A368A7}"/>
              </a:ext>
            </a:extLst>
          </p:cNvPr>
          <p:cNvSpPr>
            <a:spLocks noGrp="1"/>
          </p:cNvSpPr>
          <p:nvPr>
            <p:ph type="subTitle" idx="1"/>
          </p:nvPr>
        </p:nvSpPr>
        <p:spPr/>
        <p:txBody>
          <a:bodyPr/>
          <a:lstStyle/>
          <a:p>
            <a:r>
              <a:rPr lang="en-US" altLang="zh-CN" dirty="0"/>
              <a:t>Summary for Papers to Literature Review </a:t>
            </a:r>
            <a:endParaRPr lang="zh-CN" altLang="en-US" dirty="0"/>
          </a:p>
        </p:txBody>
      </p:sp>
    </p:spTree>
    <p:extLst>
      <p:ext uri="{BB962C8B-B14F-4D97-AF65-F5344CB8AC3E}">
        <p14:creationId xmlns:p14="http://schemas.microsoft.com/office/powerpoint/2010/main" val="2224660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2D0CA3C-D1C1-DDD8-41FC-8AE2CE56F437}"/>
              </a:ext>
            </a:extLst>
          </p:cNvPr>
          <p:cNvSpPr>
            <a:spLocks noGrp="1"/>
          </p:cNvSpPr>
          <p:nvPr>
            <p:ph idx="1"/>
          </p:nvPr>
        </p:nvSpPr>
        <p:spPr>
          <a:xfrm>
            <a:off x="845574" y="324465"/>
            <a:ext cx="10508226" cy="5852498"/>
          </a:xfrm>
        </p:spPr>
        <p:txBody>
          <a:bodyPr/>
          <a:lstStyle/>
          <a:p>
            <a:r>
              <a:rPr lang="en-US" altLang="zh-CN" dirty="0"/>
              <a:t>What can be included in literature review:</a:t>
            </a:r>
            <a:br>
              <a:rPr lang="en-US" altLang="zh-CN" dirty="0"/>
            </a:br>
            <a:r>
              <a:rPr lang="zh-CN" altLang="zh-CN" dirty="0"/>
              <a:t>Conduct a literature review (mention relevant papers and attribute results to researchers). Make it as self-contained as you can.</a:t>
            </a:r>
            <a:endParaRPr lang="en-US" altLang="zh-CN" dirty="0"/>
          </a:p>
          <a:p>
            <a:r>
              <a:rPr lang="zh-CN" altLang="zh-CN" dirty="0"/>
              <a:t>Provide motivation for why the problem/topic is interesting. </a:t>
            </a:r>
            <a:endParaRPr lang="en-US" altLang="zh-CN" dirty="0"/>
          </a:p>
          <a:p>
            <a:r>
              <a:rPr lang="zh-CN" altLang="zh-CN" dirty="0"/>
              <a:t>What interesting problems remain. </a:t>
            </a:r>
            <a:endParaRPr lang="en-US" altLang="zh-CN" dirty="0"/>
          </a:p>
          <a:p>
            <a:r>
              <a:rPr lang="zh-CN" altLang="zh-CN" dirty="0"/>
              <a:t>Does it have applications. </a:t>
            </a:r>
            <a:endParaRPr lang="en-US" altLang="zh-CN" dirty="0"/>
          </a:p>
          <a:p>
            <a:r>
              <a:rPr lang="zh-CN" altLang="zh-CN" dirty="0"/>
              <a:t>What areas of math does it affect. </a:t>
            </a:r>
            <a:endParaRPr lang="en-US" altLang="zh-CN" dirty="0"/>
          </a:p>
          <a:p>
            <a:r>
              <a:rPr lang="zh-CN" altLang="zh-CN" dirty="0"/>
              <a:t>Provide brief review of background needed to understand the problem/topic. The main exercise is to create a coherent and well-motivated report/presentation, rather than presenting highly technical proofs. In fact, you don’t have to include proofs unless you want to, but it would be great if you can mention where the proofs can be found as part of the literature review.</a:t>
            </a:r>
            <a:endParaRPr lang="zh-CN" altLang="en-US" dirty="0"/>
          </a:p>
        </p:txBody>
      </p:sp>
    </p:spTree>
    <p:extLst>
      <p:ext uri="{BB962C8B-B14F-4D97-AF65-F5344CB8AC3E}">
        <p14:creationId xmlns:p14="http://schemas.microsoft.com/office/powerpoint/2010/main" val="642185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69C06A-E59C-4494-5B56-3B96C50F4BC1}"/>
              </a:ext>
            </a:extLst>
          </p:cNvPr>
          <p:cNvSpPr>
            <a:spLocks noGrp="1"/>
          </p:cNvSpPr>
          <p:nvPr>
            <p:ph type="title"/>
          </p:nvPr>
        </p:nvSpPr>
        <p:spPr/>
        <p:txBody>
          <a:bodyPr/>
          <a:lstStyle/>
          <a:p>
            <a:r>
              <a:rPr lang="en-US" altLang="zh-CN" dirty="0"/>
              <a:t>Frame to Undergraduate 3.7</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966B090-B300-84FD-8C03-9C387EB1A535}"/>
                  </a:ext>
                </a:extLst>
              </p:cNvPr>
              <p:cNvSpPr>
                <a:spLocks noGrp="1"/>
              </p:cNvSpPr>
              <p:nvPr>
                <p:ph idx="1"/>
              </p:nvPr>
            </p:nvSpPr>
            <p:spPr>
              <a:xfrm>
                <a:off x="838200" y="1396181"/>
                <a:ext cx="10515600" cy="4780782"/>
              </a:xfrm>
            </p:spPr>
            <p:txBody>
              <a:bodyPr/>
              <a:lstStyle/>
              <a:p>
                <a:r>
                  <a:rPr lang="en-US" altLang="zh-CN" b="1" dirty="0"/>
                  <a:t>Why</a:t>
                </a:r>
                <a:r>
                  <a:rPr lang="en-US" altLang="zh-CN" dirty="0"/>
                  <a:t>: We want to reconstruct the x by using the canonical dual frame {S-1xi} and the reconstruction formula x =</a:t>
                </a:r>
                <a14:m>
                  <m:oMath xmlns:m="http://schemas.openxmlformats.org/officeDocument/2006/math">
                    <m:nary>
                      <m:naryPr>
                        <m:chr m:val="∑"/>
                        <m:ctrlPr>
                          <a:rPr lang="en-US" altLang="zh-CN" i="1" smtClean="0">
                            <a:latin typeface="Cambria Math" panose="02040503050406030204" pitchFamily="18" charset="0"/>
                          </a:rPr>
                        </m:ctrlPr>
                      </m:naryPr>
                      <m:sub>
                        <m:r>
                          <a:rPr lang="zh-CN" altLang="en-US" i="1" smtClean="0">
                            <a:latin typeface="Cambria Math" panose="02040503050406030204" pitchFamily="18" charset="0"/>
                          </a:rPr>
                          <m:t>𝑛</m:t>
                        </m:r>
                        <m:r>
                          <a:rPr lang="en-US" altLang="zh-CN" i="1" smtClean="0">
                            <a:latin typeface="Cambria Math" panose="02040503050406030204" pitchFamily="18" charset="0"/>
                          </a:rPr>
                          <m:t>=1</m:t>
                        </m:r>
                      </m:sub>
                      <m:sup>
                        <m:r>
                          <a:rPr lang="en-US" altLang="zh-CN" b="0" i="1" smtClean="0">
                            <a:latin typeface="Cambria Math" panose="02040503050406030204" pitchFamily="18" charset="0"/>
                          </a:rPr>
                          <m:t>𝑛</m:t>
                        </m:r>
                      </m:sup>
                      <m:e>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i="1" smtClean="0">
                                <a:latin typeface="Cambria Math" panose="02040503050406030204" pitchFamily="18" charset="0"/>
                              </a:rPr>
                              <m:t>+</m:t>
                            </m:r>
                            <m:r>
                              <a:rPr lang="en-US" altLang="zh-CN" b="0" i="1" smtClean="0">
                                <a:latin typeface="Cambria Math" panose="02040503050406030204" pitchFamily="18" charset="0"/>
                              </a:rPr>
                              <m:t>𝑥𝑖</m:t>
                            </m:r>
                          </m:e>
                        </m:d>
                      </m:e>
                    </m:nary>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𝑆</m:t>
                        </m:r>
                      </m:e>
                      <m:sup>
                        <m:r>
                          <a:rPr lang="en-US" altLang="zh-CN" b="0" i="1" smtClean="0">
                            <a:latin typeface="Cambria Math" panose="02040503050406030204" pitchFamily="18" charset="0"/>
                          </a:rPr>
                          <m:t>−1</m:t>
                        </m:r>
                      </m:sup>
                    </m:s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endParaRPr lang="en-US" altLang="zh-CN" dirty="0"/>
              </a:p>
              <a:p>
                <a:r>
                  <a:rPr lang="en-US" altLang="zh-CN" b="1" dirty="0"/>
                  <a:t>What we have</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en-US" altLang="zh-CN" dirty="0"/>
                  <a:t> frame and the inner product &lt;</a:t>
                </a:r>
                <a:r>
                  <a:rPr lang="en-US" altLang="zh-CN" b="0" dirty="0"/>
                  <a:t> </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𝑥𝑖</m:t>
                    </m:r>
                  </m:oMath>
                </a14:m>
                <a:r>
                  <a:rPr lang="en-US" altLang="zh-CN" dirty="0"/>
                  <a:t> &gt;(</a:t>
                </a:r>
                <a:r>
                  <a:rPr lang="en-US" altLang="zh-CN" dirty="0" err="1"/>
                  <a:t>i</a:t>
                </a:r>
                <a:r>
                  <a:rPr lang="en-US" altLang="zh-CN" dirty="0"/>
                  <a:t>= 1-n)</a:t>
                </a:r>
              </a:p>
              <a:p>
                <a:r>
                  <a:rPr lang="en-US" altLang="zh-CN" b="1" dirty="0"/>
                  <a:t>Problem</a:t>
                </a:r>
                <a:r>
                  <a:rPr lang="en-US" altLang="zh-CN" dirty="0"/>
                  <a:t>: The</a:t>
                </a:r>
                <a:r>
                  <a:rPr lang="zh-CN" altLang="en-US" dirty="0"/>
                  <a:t> </a:t>
                </a:r>
                <a:r>
                  <a:rPr lang="en-US" altLang="zh-CN" dirty="0"/>
                  <a:t>Speed</a:t>
                </a:r>
                <a:r>
                  <a:rPr lang="zh-CN" altLang="en-US" dirty="0"/>
                  <a:t> </a:t>
                </a:r>
                <a:r>
                  <a:rPr lang="en-US" altLang="zh-CN" dirty="0"/>
                  <a:t>of</a:t>
                </a:r>
                <a:r>
                  <a:rPr lang="zh-CN" altLang="en-US" dirty="0"/>
                  <a:t> </a:t>
                </a:r>
                <a:r>
                  <a:rPr lang="en-US" altLang="zh-CN" dirty="0"/>
                  <a:t>convergence</a:t>
                </a:r>
                <a:r>
                  <a:rPr lang="zh-CN" altLang="en-US" dirty="0"/>
                  <a:t> </a:t>
                </a:r>
                <a:r>
                  <a:rPr lang="en-US" altLang="zh-CN" dirty="0"/>
                  <a:t>in</a:t>
                </a:r>
                <a:r>
                  <a:rPr lang="zh-CN" altLang="en-US" dirty="0"/>
                  <a:t> </a:t>
                </a:r>
                <a:r>
                  <a:rPr lang="en-US" altLang="zh-CN" dirty="0"/>
                  <a:t>the</a:t>
                </a:r>
                <a:r>
                  <a:rPr lang="zh-CN" altLang="en-US" dirty="0"/>
                  <a:t> </a:t>
                </a:r>
                <a:r>
                  <a:rPr lang="en-US" altLang="zh-CN" dirty="0"/>
                  <a:t>numerical</a:t>
                </a:r>
                <a:r>
                  <a:rPr lang="zh-CN" altLang="en-US" dirty="0"/>
                  <a:t> </a:t>
                </a:r>
                <a:r>
                  <a:rPr lang="en-US" altLang="zh-CN" dirty="0"/>
                  <a:t>procedure of Finding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𝑆</m:t>
                        </m:r>
                      </m:e>
                      <m:sup>
                        <m:r>
                          <a:rPr lang="en-US" altLang="zh-CN" b="0" i="1" smtClean="0">
                            <a:latin typeface="Cambria Math" panose="02040503050406030204" pitchFamily="18" charset="0"/>
                          </a:rPr>
                          <m:t>−1</m:t>
                        </m:r>
                      </m:sup>
                    </m:sSup>
                  </m:oMath>
                </a14:m>
                <a:r>
                  <a:rPr lang="en-US" altLang="zh-CN" dirty="0"/>
                  <a:t> depends heavily on the condition number of S. When the condition number and the dimension of H is large, inverting S can become unacceptably time consuming.</a:t>
                </a:r>
              </a:p>
              <a:p>
                <a:r>
                  <a:rPr lang="en-US" altLang="zh-CN" b="1" dirty="0"/>
                  <a:t>Why we need algorithm</a:t>
                </a:r>
                <a:r>
                  <a:rPr lang="en-US" altLang="zh-CN" dirty="0"/>
                  <a:t>: to solve the problem before and produce an accurate approximation of x. Then there are three algorithm. </a:t>
                </a:r>
              </a:p>
              <a:p>
                <a:endParaRPr lang="zh-CN" altLang="en-US" dirty="0"/>
              </a:p>
            </p:txBody>
          </p:sp>
        </mc:Choice>
        <mc:Fallback xmlns="">
          <p:sp>
            <p:nvSpPr>
              <p:cNvPr id="3" name="内容占位符 2">
                <a:extLst>
                  <a:ext uri="{FF2B5EF4-FFF2-40B4-BE49-F238E27FC236}">
                    <a16:creationId xmlns:a16="http://schemas.microsoft.com/office/drawing/2014/main" id="{B966B090-B300-84FD-8C03-9C387EB1A535}"/>
                  </a:ext>
                </a:extLst>
              </p:cNvPr>
              <p:cNvSpPr>
                <a:spLocks noGrp="1" noRot="1" noChangeAspect="1" noMove="1" noResize="1" noEditPoints="1" noAdjustHandles="1" noChangeArrowheads="1" noChangeShapeType="1" noTextEdit="1"/>
              </p:cNvSpPr>
              <p:nvPr>
                <p:ph idx="1"/>
              </p:nvPr>
            </p:nvSpPr>
            <p:spPr>
              <a:xfrm>
                <a:off x="838200" y="1396181"/>
                <a:ext cx="10515600" cy="4780782"/>
              </a:xfrm>
              <a:blipFill>
                <a:blip r:embed="rId2"/>
                <a:stretch>
                  <a:fillRect l="-1043" t="-2296" b="-17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0091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07B0493-0061-111E-8AFA-8899DAE9E286}"/>
                  </a:ext>
                </a:extLst>
              </p:cNvPr>
              <p:cNvSpPr>
                <a:spLocks noGrp="1"/>
              </p:cNvSpPr>
              <p:nvPr>
                <p:ph idx="1"/>
              </p:nvPr>
            </p:nvSpPr>
            <p:spPr>
              <a:xfrm>
                <a:off x="838200" y="412955"/>
                <a:ext cx="10515600" cy="5764008"/>
              </a:xfrm>
            </p:spPr>
            <p:txBody>
              <a:bodyPr>
                <a:normAutofit/>
              </a:bodyPr>
              <a:lstStyle/>
              <a:p>
                <a:pPr marL="0" indent="0">
                  <a:buNone/>
                </a:pPr>
                <a:r>
                  <a:rPr lang="en-US" altLang="zh-CN" i="1" dirty="0"/>
                  <a:t>The detailed proof and</a:t>
                </a:r>
                <a:r>
                  <a:rPr lang="zh-CN" altLang="en-US" i="1" dirty="0"/>
                  <a:t> </a:t>
                </a:r>
                <a:r>
                  <a:rPr lang="en-US" altLang="zh-CN" i="1" dirty="0"/>
                  <a:t>formula</a:t>
                </a:r>
                <a:r>
                  <a:rPr lang="zh-CN" altLang="en-US" i="1" dirty="0"/>
                  <a:t> </a:t>
                </a:r>
                <a:r>
                  <a:rPr lang="en-US" altLang="zh-CN" i="1" dirty="0"/>
                  <a:t>is on book and below is a summary of main idea to each algorithm</a:t>
                </a:r>
                <a:r>
                  <a:rPr lang="en-US" altLang="zh-CN" dirty="0"/>
                  <a:t>.</a:t>
                </a:r>
              </a:p>
              <a:p>
                <a:r>
                  <a:rPr lang="en-US" altLang="zh-CN" dirty="0"/>
                  <a:t>Frame algorithm: </a:t>
                </a:r>
              </a:p>
              <a:p>
                <a:pPr>
                  <a:buFontTx/>
                  <a:buChar char="-"/>
                </a:pPr>
                <a:r>
                  <a:rPr lang="en-US" altLang="zh-CN" b="1" dirty="0"/>
                  <a:t>What</a:t>
                </a:r>
                <a:r>
                  <a:rPr lang="zh-CN" altLang="en-US" b="1" dirty="0"/>
                  <a:t> </a:t>
                </a:r>
                <a:r>
                  <a:rPr lang="en-US" altLang="zh-CN" b="1" dirty="0"/>
                  <a:t>we</a:t>
                </a:r>
                <a:r>
                  <a:rPr lang="zh-CN" altLang="en-US" b="1" dirty="0"/>
                  <a:t> </a:t>
                </a:r>
                <a:r>
                  <a:rPr lang="en-US" altLang="zh-CN" b="1" dirty="0"/>
                  <a:t>need</a:t>
                </a:r>
                <a:r>
                  <a:rPr lang="en-US" altLang="zh-CN" dirty="0"/>
                  <a:t>:</a:t>
                </a:r>
                <a:r>
                  <a:rPr lang="zh-CN" altLang="en-US" dirty="0"/>
                  <a:t> </a:t>
                </a:r>
                <a:r>
                  <a:rPr lang="en-US" altLang="zh-CN" dirty="0"/>
                  <a:t>frame</a:t>
                </a:r>
                <a:r>
                  <a:rPr lang="zh-CN" altLang="en-US" dirty="0"/>
                  <a:t> </a:t>
                </a:r>
                <a:r>
                  <a:rPr lang="en-US" altLang="zh-CN" dirty="0"/>
                  <a:t>bound(A&amp;B),</a:t>
                </a:r>
                <a:r>
                  <a:rPr lang="zh-CN" altLang="en-US" dirty="0"/>
                  <a:t> </a:t>
                </a:r>
                <a:r>
                  <a:rPr lang="en-US" altLang="zh-CN" dirty="0"/>
                  <a:t>coefficients </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m:t>&lt;</m:t>
                        </m:r>
                        <m:r>
                          <a:rPr lang="zh-CN" altLang="en-US" i="1"/>
                          <m:t>𝑥</m:t>
                        </m:r>
                        <m:r>
                          <a:rPr lang="en-US" altLang="zh-CN" i="1"/>
                          <m:t>, </m:t>
                        </m:r>
                        <m:r>
                          <a:rPr lang="zh-CN" altLang="en-US" i="1"/>
                          <m:t>𝑥𝑖</m:t>
                        </m:r>
                        <m:r>
                          <a:rPr lang="en-US" altLang="zh-CN" i="1"/>
                          <m:t>&gt;</m:t>
                        </m:r>
                        <m:r>
                          <m:rPr>
                            <m:nor/>
                          </m:rPr>
                          <a:rPr lang="zh-CN" altLang="en-US">
                            <a:effectLst/>
                          </a:rPr>
                          <m:t> </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sSubSup>
                    <m:r>
                      <a:rPr lang="en-US" altLang="zh-CN" b="0" i="1" dirty="0" smtClean="0">
                        <a:latin typeface="Cambria Math" panose="02040503050406030204" pitchFamily="18" charset="0"/>
                      </a:rPr>
                      <m:t> </m:t>
                    </m:r>
                  </m:oMath>
                </a14:m>
                <a:r>
                  <a:rPr lang="en-US" altLang="zh-CN" dirty="0"/>
                  <a:t>and frame </a:t>
                </a:r>
                <a14:m>
                  <m:oMath xmlns:m="http://schemas.openxmlformats.org/officeDocument/2006/math">
                    <m:sSubSup>
                      <m:sSubSupPr>
                        <m:ctrlPr>
                          <a:rPr lang="zh-CN" altLang="en-US" i="1" dirty="0" smtClean="0">
                            <a:latin typeface="Cambria Math" panose="02040503050406030204" pitchFamily="18" charset="0"/>
                          </a:rPr>
                        </m:ctrlPr>
                      </m:sSubSupPr>
                      <m:e>
                        <m:r>
                          <a:rPr lang="en-US" altLang="zh-CN" i="1"/>
                          <m:t>{</m:t>
                        </m:r>
                        <m:sSub>
                          <m:sSubPr>
                            <m:ctrlPr>
                              <a:rPr lang="zh-CN" altLang="en-US" i="1"/>
                            </m:ctrlPr>
                          </m:sSubPr>
                          <m:e>
                            <m:r>
                              <a:rPr lang="zh-CN" altLang="en-US" i="1"/>
                              <m:t>𝑥</m:t>
                            </m:r>
                          </m:e>
                          <m:sub>
                            <m:r>
                              <a:rPr lang="zh-CN" altLang="en-US" i="1"/>
                              <m:t>𝑖</m:t>
                            </m:r>
                          </m:sub>
                        </m:sSub>
                        <m:r>
                          <a:rPr lang="en-US" altLang="zh-CN" i="1"/>
                          <m:t>}</m:t>
                        </m:r>
                      </m:e>
                      <m:sub/>
                      <m:sup/>
                    </m:sSubSup>
                  </m:oMath>
                </a14:m>
                <a:endParaRPr lang="en-US" altLang="zh-CN" dirty="0"/>
              </a:p>
              <a:p>
                <a:pPr>
                  <a:buFontTx/>
                  <a:buChar char="-"/>
                </a:pPr>
                <a:r>
                  <a:rPr lang="en-US" altLang="zh-CN" b="1" dirty="0"/>
                  <a:t>The speed of converge</a:t>
                </a:r>
                <a:r>
                  <a:rPr lang="en-US" altLang="zh-CN" dirty="0"/>
                  <a:t>: (B-A)/(A+B)</a:t>
                </a:r>
              </a:p>
              <a:p>
                <a:pPr marL="0" indent="0">
                  <a:buNone/>
                </a:pPr>
                <a:r>
                  <a:rPr lang="en-US" altLang="zh-CN" dirty="0"/>
                  <a:t>(when the frame is a Parseval frame and tight frame, it only needs one time to reconstruct x)</a:t>
                </a:r>
              </a:p>
              <a:p>
                <a:pPr marL="0" indent="0">
                  <a:buNone/>
                </a:pPr>
                <a:r>
                  <a:rPr lang="en-US" altLang="zh-CN" dirty="0"/>
                  <a:t>- </a:t>
                </a:r>
                <a:r>
                  <a:rPr lang="en-US" altLang="zh-CN" b="1" dirty="0"/>
                  <a:t>Problem</a:t>
                </a:r>
                <a:r>
                  <a:rPr lang="en-US" altLang="zh-CN" dirty="0"/>
                  <a:t>: the speed of converge to x is slow and frame bound A and B are necessary.</a:t>
                </a:r>
              </a:p>
              <a:p>
                <a:pPr>
                  <a:buFontTx/>
                  <a:buChar char="-"/>
                </a:pPr>
                <a:endParaRPr lang="zh-CN" altLang="en-US" dirty="0"/>
              </a:p>
            </p:txBody>
          </p:sp>
        </mc:Choice>
        <mc:Fallback>
          <p:sp>
            <p:nvSpPr>
              <p:cNvPr id="3" name="内容占位符 2">
                <a:extLst>
                  <a:ext uri="{FF2B5EF4-FFF2-40B4-BE49-F238E27FC236}">
                    <a16:creationId xmlns:a16="http://schemas.microsoft.com/office/drawing/2014/main" id="{807B0493-0061-111E-8AFA-8899DAE9E286}"/>
                  </a:ext>
                </a:extLst>
              </p:cNvPr>
              <p:cNvSpPr>
                <a:spLocks noGrp="1" noRot="1" noChangeAspect="1" noMove="1" noResize="1" noEditPoints="1" noAdjustHandles="1" noChangeArrowheads="1" noChangeShapeType="1" noTextEdit="1"/>
              </p:cNvSpPr>
              <p:nvPr>
                <p:ph idx="1"/>
              </p:nvPr>
            </p:nvSpPr>
            <p:spPr>
              <a:xfrm>
                <a:off x="838200" y="412955"/>
                <a:ext cx="10515600" cy="5764008"/>
              </a:xfrm>
              <a:blipFill>
                <a:blip r:embed="rId2"/>
                <a:stretch>
                  <a:fillRect l="-1217" t="-2011" r="-14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869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460D0CA2-77AA-C9D8-71FC-DD6E394CC49F}"/>
                  </a:ext>
                </a:extLst>
              </p:cNvPr>
              <p:cNvSpPr>
                <a:spLocks noGrp="1"/>
              </p:cNvSpPr>
              <p:nvPr>
                <p:ph idx="1"/>
              </p:nvPr>
            </p:nvSpPr>
            <p:spPr>
              <a:xfrm>
                <a:off x="838200" y="235974"/>
                <a:ext cx="10515600" cy="5940989"/>
              </a:xfrm>
            </p:spPr>
            <p:txBody>
              <a:bodyPr/>
              <a:lstStyle/>
              <a:p>
                <a:r>
                  <a:rPr lang="en-US" altLang="zh-CN" dirty="0"/>
                  <a:t>The Chebyshev algorithm:</a:t>
                </a:r>
              </a:p>
              <a:p>
                <a:pPr>
                  <a:buFontTx/>
                  <a:buChar char="-"/>
                </a:pPr>
                <a:r>
                  <a:rPr lang="en-US" altLang="zh-CN" b="1" dirty="0"/>
                  <a:t>What we need</a:t>
                </a:r>
                <a:r>
                  <a:rPr lang="en-US" altLang="zh-CN" dirty="0"/>
                  <a:t>: frame</a:t>
                </a:r>
                <a:r>
                  <a:rPr lang="zh-CN" altLang="en-US" dirty="0"/>
                  <a:t> </a:t>
                </a:r>
                <a:r>
                  <a:rPr lang="en-US" altLang="zh-CN" dirty="0"/>
                  <a:t>bound(A&amp;B),</a:t>
                </a:r>
                <a:r>
                  <a:rPr lang="zh-CN" altLang="en-US" dirty="0"/>
                  <a:t> </a:t>
                </a:r>
                <a:r>
                  <a:rPr lang="en-US" altLang="zh-CN" dirty="0"/>
                  <a:t>coefficients </a:t>
                </a:r>
                <a14:m>
                  <m:oMath xmlns:m="http://schemas.openxmlformats.org/officeDocument/2006/math">
                    <m:sSubSup>
                      <m:sSubSupPr>
                        <m:ctrlPr>
                          <a:rPr lang="en-US" altLang="zh-CN" i="1" dirty="0">
                            <a:latin typeface="Cambria Math" panose="02040503050406030204" pitchFamily="18" charset="0"/>
                          </a:rPr>
                        </m:ctrlPr>
                      </m:sSubSupPr>
                      <m:e>
                        <m:r>
                          <a:rPr lang="en-US" altLang="zh-CN" i="1">
                            <a:latin typeface="Cambria Math" panose="02040503050406030204" pitchFamily="18" charset="0"/>
                          </a:rPr>
                          <m:t>&lt;</m:t>
                        </m:r>
                        <m:r>
                          <a:rPr lang="zh-CN" altLang="en-US" i="1">
                            <a:latin typeface="Cambria Math" panose="02040503050406030204" pitchFamily="18" charset="0"/>
                          </a:rPr>
                          <m:t>𝑥</m:t>
                        </m:r>
                        <m:r>
                          <a:rPr lang="en-US" altLang="zh-CN" i="1">
                            <a:latin typeface="Cambria Math" panose="02040503050406030204" pitchFamily="18" charset="0"/>
                          </a:rPr>
                          <m:t>, </m:t>
                        </m:r>
                        <m:r>
                          <a:rPr lang="zh-CN" altLang="en-US" i="1">
                            <a:latin typeface="Cambria Math" panose="02040503050406030204" pitchFamily="18" charset="0"/>
                          </a:rPr>
                          <m:t>𝑥𝑖</m:t>
                        </m:r>
                        <m:r>
                          <a:rPr lang="en-US" altLang="zh-CN" i="1">
                            <a:latin typeface="Cambria Math" panose="02040503050406030204" pitchFamily="18" charset="0"/>
                          </a:rPr>
                          <m:t>&gt;</m:t>
                        </m:r>
                        <m:r>
                          <m:rPr>
                            <m:nor/>
                          </m:rPr>
                          <a:rPr lang="zh-CN" altLang="en-US"/>
                          <m:t> </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𝑛</m:t>
                        </m:r>
                      </m:sup>
                    </m:sSubSup>
                    <m:r>
                      <a:rPr lang="en-US" altLang="zh-CN" i="1" dirty="0">
                        <a:latin typeface="Cambria Math" panose="02040503050406030204" pitchFamily="18" charset="0"/>
                      </a:rPr>
                      <m:t> </m:t>
                    </m:r>
                  </m:oMath>
                </a14:m>
                <a:r>
                  <a:rPr lang="en-US" altLang="zh-CN" dirty="0"/>
                  <a:t>and frame </a:t>
                </a:r>
                <a14:m>
                  <m:oMath xmlns:m="http://schemas.openxmlformats.org/officeDocument/2006/math">
                    <m:sSubSup>
                      <m:sSubSupPr>
                        <m:ctrlPr>
                          <a:rPr lang="zh-CN" altLang="en-US" i="1" dirty="0">
                            <a:latin typeface="Cambria Math" panose="02040503050406030204" pitchFamily="18" charset="0"/>
                          </a:rPr>
                        </m:ctrlPr>
                      </m:sSubSupPr>
                      <m:e>
                        <m:r>
                          <a:rPr lang="en-US" altLang="zh-CN"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en-US" altLang="zh-CN" i="1">
                            <a:latin typeface="Cambria Math" panose="02040503050406030204" pitchFamily="18" charset="0"/>
                          </a:rPr>
                          <m:t>}</m:t>
                        </m:r>
                      </m:e>
                      <m:sub/>
                      <m:sup/>
                    </m:sSubSup>
                  </m:oMath>
                </a14:m>
                <a:endParaRPr lang="en-US" altLang="zh-CN" dirty="0"/>
              </a:p>
              <a:p>
                <a:pPr>
                  <a:buFontTx/>
                  <a:buChar char="-"/>
                </a:pPr>
                <a:r>
                  <a:rPr lang="en-US" altLang="zh-CN" b="1" dirty="0"/>
                  <a:t>The speed of converge</a:t>
                </a:r>
                <a:r>
                  <a:rPr lang="en-US" altLang="zh-CN" dirty="0"/>
                  <a:t>: 2</a:t>
                </a:r>
                <a14:m>
                  <m:oMath xmlns:m="http://schemas.openxmlformats.org/officeDocument/2006/math">
                    <m:r>
                      <a:rPr lang="zh-CN" altLang="en-US" i="1" smtClean="0">
                        <a:latin typeface="Cambria Math" panose="02040503050406030204" pitchFamily="18" charset="0"/>
                      </a:rPr>
                      <m:t>𝜎</m:t>
                    </m:r>
                  </m:oMath>
                </a14:m>
                <a:r>
                  <a:rPr lang="en-US" altLang="zh-CN" dirty="0"/>
                  <a:t> (k+1) - …(k)</a:t>
                </a:r>
              </a:p>
              <a:p>
                <a:pPr>
                  <a:buFontTx/>
                  <a:buChar char="-"/>
                </a:pPr>
                <a:r>
                  <a:rPr lang="en-US" altLang="zh-CN" b="1" dirty="0"/>
                  <a:t>What it includes</a:t>
                </a:r>
                <a:r>
                  <a:rPr lang="en-US" altLang="zh-CN" dirty="0"/>
                  <a:t>: </a:t>
                </a:r>
                <a14:m>
                  <m:oMath xmlns:m="http://schemas.openxmlformats.org/officeDocument/2006/math">
                    <m:r>
                      <a:rPr lang="zh-CN" altLang="en-US" i="1" smtClean="0">
                        <a:latin typeface="Cambria Math" panose="02040503050406030204" pitchFamily="18" charset="0"/>
                      </a:rPr>
                      <m:t>𝜌</m:t>
                    </m:r>
                    <m:r>
                      <a:rPr lang="en-US" altLang="zh-CN" b="0" i="1" smtClean="0">
                        <a:latin typeface="Cambria Math" panose="02040503050406030204" pitchFamily="18" charset="0"/>
                      </a:rPr>
                      <m:t>, </m:t>
                    </m:r>
                    <m:r>
                      <a:rPr lang="zh-CN" altLang="en-US" b="0" i="1" smtClean="0">
                        <a:latin typeface="Cambria Math" panose="02040503050406030204" pitchFamily="18" charset="0"/>
                      </a:rPr>
                      <m:t>𝜎</m:t>
                    </m:r>
                  </m:oMath>
                </a14:m>
                <a:r>
                  <a:rPr lang="en-US" altLang="zh-CN" dirty="0"/>
                  <a:t> and lambda</a:t>
                </a:r>
              </a:p>
              <a:p>
                <a:pPr>
                  <a:buFontTx/>
                  <a:buChar char="-"/>
                </a:pPr>
                <a:r>
                  <a:rPr lang="en-US" altLang="zh-CN" b="1" dirty="0"/>
                  <a:t>Why it is better than frame algorithm</a:t>
                </a:r>
                <a:r>
                  <a:rPr lang="en-US" altLang="zh-CN" dirty="0"/>
                  <a:t>: it have a faster speed when the condition number of S is large.</a:t>
                </a:r>
              </a:p>
              <a:p>
                <a:pPr>
                  <a:buFontTx/>
                  <a:buChar char="-"/>
                </a:pPr>
                <a:r>
                  <a:rPr lang="en-US" altLang="zh-CN" b="1" dirty="0"/>
                  <a:t>Problem</a:t>
                </a:r>
                <a:r>
                  <a:rPr lang="en-US" altLang="zh-CN" dirty="0"/>
                  <a:t>: Frame bound A and B are necessary.</a:t>
                </a:r>
              </a:p>
              <a:p>
                <a:pPr>
                  <a:buFontTx/>
                  <a:buChar char="-"/>
                </a:pPr>
                <a:endParaRPr lang="en-US" altLang="zh-CN" dirty="0"/>
              </a:p>
              <a:p>
                <a:endParaRPr lang="zh-CN" altLang="en-US" dirty="0"/>
              </a:p>
            </p:txBody>
          </p:sp>
        </mc:Choice>
        <mc:Fallback>
          <p:sp>
            <p:nvSpPr>
              <p:cNvPr id="3" name="内容占位符 2">
                <a:extLst>
                  <a:ext uri="{FF2B5EF4-FFF2-40B4-BE49-F238E27FC236}">
                    <a16:creationId xmlns:a16="http://schemas.microsoft.com/office/drawing/2014/main" id="{460D0CA2-77AA-C9D8-71FC-DD6E394CC49F}"/>
                  </a:ext>
                </a:extLst>
              </p:cNvPr>
              <p:cNvSpPr>
                <a:spLocks noGrp="1" noRot="1" noChangeAspect="1" noMove="1" noResize="1" noEditPoints="1" noAdjustHandles="1" noChangeArrowheads="1" noChangeShapeType="1" noTextEdit="1"/>
              </p:cNvSpPr>
              <p:nvPr>
                <p:ph idx="1"/>
              </p:nvPr>
            </p:nvSpPr>
            <p:spPr>
              <a:xfrm>
                <a:off x="838200" y="235974"/>
                <a:ext cx="10515600" cy="5940989"/>
              </a:xfrm>
              <a:blipFill>
                <a:blip r:embed="rId2"/>
                <a:stretch>
                  <a:fillRect l="-1043" t="-1951" r="-14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931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7F4B26B-FF1D-F6A6-1126-4A0C116FC9D2}"/>
                  </a:ext>
                </a:extLst>
              </p:cNvPr>
              <p:cNvSpPr>
                <a:spLocks noGrp="1"/>
              </p:cNvSpPr>
              <p:nvPr>
                <p:ph idx="1"/>
              </p:nvPr>
            </p:nvSpPr>
            <p:spPr>
              <a:xfrm>
                <a:off x="838200" y="373626"/>
                <a:ext cx="10515600" cy="5803337"/>
              </a:xfrm>
            </p:spPr>
            <p:txBody>
              <a:bodyPr/>
              <a:lstStyle/>
              <a:p>
                <a:r>
                  <a:rPr lang="en-US" altLang="zh-CN" dirty="0"/>
                  <a:t>The conjugate gradient algorithm:</a:t>
                </a:r>
              </a:p>
              <a:p>
                <a:pPr>
                  <a:buFontTx/>
                  <a:buChar char="-"/>
                </a:pPr>
                <a:r>
                  <a:rPr lang="en-US" altLang="zh-CN" b="1" dirty="0"/>
                  <a:t>What we need</a:t>
                </a:r>
                <a:r>
                  <a:rPr lang="en-US" altLang="zh-CN" dirty="0"/>
                  <a:t>: coefficients </a:t>
                </a:r>
                <a14:m>
                  <m:oMath xmlns:m="http://schemas.openxmlformats.org/officeDocument/2006/math">
                    <m:sSubSup>
                      <m:sSubSupPr>
                        <m:ctrlPr>
                          <a:rPr lang="en-US" altLang="zh-CN" i="1" dirty="0">
                            <a:latin typeface="Cambria Math" panose="02040503050406030204" pitchFamily="18" charset="0"/>
                          </a:rPr>
                        </m:ctrlPr>
                      </m:sSubSupPr>
                      <m:e>
                        <m:r>
                          <a:rPr lang="en-US" altLang="zh-CN" i="1">
                            <a:latin typeface="Cambria Math" panose="02040503050406030204" pitchFamily="18" charset="0"/>
                          </a:rPr>
                          <m:t>&lt;</m:t>
                        </m:r>
                        <m:r>
                          <a:rPr lang="zh-CN" altLang="en-US" i="1">
                            <a:latin typeface="Cambria Math" panose="02040503050406030204" pitchFamily="18" charset="0"/>
                          </a:rPr>
                          <m:t>𝑥</m:t>
                        </m:r>
                        <m:r>
                          <a:rPr lang="en-US" altLang="zh-CN" i="1">
                            <a:latin typeface="Cambria Math" panose="02040503050406030204" pitchFamily="18" charset="0"/>
                          </a:rPr>
                          <m:t>, </m:t>
                        </m:r>
                        <m:r>
                          <a:rPr lang="zh-CN" altLang="en-US" i="1">
                            <a:latin typeface="Cambria Math" panose="02040503050406030204" pitchFamily="18" charset="0"/>
                          </a:rPr>
                          <m:t>𝑥𝑖</m:t>
                        </m:r>
                        <m:r>
                          <a:rPr lang="en-US" altLang="zh-CN" i="1">
                            <a:latin typeface="Cambria Math" panose="02040503050406030204" pitchFamily="18" charset="0"/>
                          </a:rPr>
                          <m:t>&gt;</m:t>
                        </m:r>
                        <m:r>
                          <m:rPr>
                            <m:nor/>
                          </m:rPr>
                          <a:rPr lang="zh-CN" altLang="en-US"/>
                          <m:t> </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𝑛</m:t>
                        </m:r>
                      </m:sup>
                    </m:sSubSup>
                    <m:r>
                      <a:rPr lang="en-US" altLang="zh-CN" i="1" dirty="0">
                        <a:latin typeface="Cambria Math" panose="02040503050406030204" pitchFamily="18" charset="0"/>
                      </a:rPr>
                      <m:t> </m:t>
                    </m:r>
                  </m:oMath>
                </a14:m>
                <a:r>
                  <a:rPr lang="en-US" altLang="zh-CN" dirty="0"/>
                  <a:t>and frame </a:t>
                </a:r>
                <a14:m>
                  <m:oMath xmlns:m="http://schemas.openxmlformats.org/officeDocument/2006/math">
                    <m:sSubSup>
                      <m:sSubSupPr>
                        <m:ctrlPr>
                          <a:rPr lang="zh-CN" altLang="en-US" i="1" dirty="0">
                            <a:latin typeface="Cambria Math" panose="02040503050406030204" pitchFamily="18" charset="0"/>
                          </a:rPr>
                        </m:ctrlPr>
                      </m:sSubSupPr>
                      <m:e>
                        <m:r>
                          <a:rPr lang="en-US" altLang="zh-CN"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en-US" altLang="zh-CN" i="1">
                            <a:latin typeface="Cambria Math" panose="02040503050406030204" pitchFamily="18" charset="0"/>
                          </a:rPr>
                          <m:t>}</m:t>
                        </m:r>
                      </m:e>
                      <m:sub/>
                      <m:sup/>
                    </m:sSubSup>
                  </m:oMath>
                </a14:m>
                <a:endParaRPr lang="en-US" altLang="zh-CN" dirty="0"/>
              </a:p>
              <a:p>
                <a:pPr marL="0" indent="0">
                  <a:buNone/>
                </a:pPr>
                <a:r>
                  <a:rPr lang="en-US" altLang="zh-CN" b="1" dirty="0"/>
                  <a:t>- Some new parameters are included</a:t>
                </a:r>
                <a:r>
                  <a:rPr lang="en-US" altLang="zh-CN" dirty="0"/>
                  <a:t>: u (</a:t>
                </a:r>
                <a:r>
                  <a:rPr lang="en-US" altLang="zh-CN" dirty="0" err="1"/>
                  <a:t>esitimate</a:t>
                </a:r>
                <a:r>
                  <a:rPr lang="en-US" altLang="zh-CN" dirty="0"/>
                  <a:t> parameter), r (residual), p (direction for</a:t>
                </a:r>
                <a:r>
                  <a:rPr lang="zh-CN" altLang="en-US" dirty="0"/>
                  <a:t> </a:t>
                </a:r>
                <a:r>
                  <a:rPr lang="en-US" altLang="zh-CN" dirty="0"/>
                  <a:t>next step)</a:t>
                </a:r>
              </a:p>
              <a:p>
                <a:pPr>
                  <a:buFontTx/>
                  <a:buChar char="-"/>
                </a:pPr>
                <a:r>
                  <a:rPr lang="en-US" altLang="zh-CN" b="1" dirty="0"/>
                  <a:t>The speed</a:t>
                </a:r>
                <a:r>
                  <a:rPr lang="en-US" altLang="zh-CN" dirty="0"/>
                  <a:t>: the speed is still depended on frame bound and it is faster than frame algorithm</a:t>
                </a:r>
              </a:p>
              <a:p>
                <a:pPr>
                  <a:buFontTx/>
                  <a:buChar char="-"/>
                </a:pPr>
                <a:r>
                  <a:rPr lang="en-US" altLang="zh-CN" b="1" dirty="0"/>
                  <a:t>Why it is better</a:t>
                </a:r>
                <a:r>
                  <a:rPr lang="en-US" altLang="zh-CN" dirty="0"/>
                  <a:t>: it doesn’t need frame bound which is hard to find</a:t>
                </a:r>
              </a:p>
              <a:p>
                <a:pPr>
                  <a:buFontTx/>
                  <a:buChar char="-"/>
                </a:pPr>
                <a:endParaRPr lang="zh-CN" altLang="en-US" dirty="0"/>
              </a:p>
            </p:txBody>
          </p:sp>
        </mc:Choice>
        <mc:Fallback>
          <p:sp>
            <p:nvSpPr>
              <p:cNvPr id="3" name="内容占位符 2">
                <a:extLst>
                  <a:ext uri="{FF2B5EF4-FFF2-40B4-BE49-F238E27FC236}">
                    <a16:creationId xmlns:a16="http://schemas.microsoft.com/office/drawing/2014/main" id="{E7F4B26B-FF1D-F6A6-1126-4A0C116FC9D2}"/>
                  </a:ext>
                </a:extLst>
              </p:cNvPr>
              <p:cNvSpPr>
                <a:spLocks noGrp="1" noRot="1" noChangeAspect="1" noMove="1" noResize="1" noEditPoints="1" noAdjustHandles="1" noChangeArrowheads="1" noChangeShapeType="1" noTextEdit="1"/>
              </p:cNvSpPr>
              <p:nvPr>
                <p:ph idx="1"/>
              </p:nvPr>
            </p:nvSpPr>
            <p:spPr>
              <a:xfrm>
                <a:off x="838200" y="373626"/>
                <a:ext cx="10515600" cy="5803337"/>
              </a:xfrm>
              <a:blipFill>
                <a:blip r:embed="rId2"/>
                <a:stretch>
                  <a:fillRect l="-1217" t="-18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968526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758FF4AED7254A9FE3D1B597C920CC" ma:contentTypeVersion="6" ma:contentTypeDescription="Create a new document." ma:contentTypeScope="" ma:versionID="ff559e09d66366849ce0614cba97ded8">
  <xsd:schema xmlns:xsd="http://www.w3.org/2001/XMLSchema" xmlns:xs="http://www.w3.org/2001/XMLSchema" xmlns:p="http://schemas.microsoft.com/office/2006/metadata/properties" xmlns:ns3="810d0499-780b-4338-be7d-f27c91fc8c49" targetNamespace="http://schemas.microsoft.com/office/2006/metadata/properties" ma:root="true" ma:fieldsID="69c3756836c6135650a87602103b9e11" ns3:_="">
    <xsd:import namespace="810d0499-780b-4338-be7d-f27c91fc8c4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0d0499-780b-4338-be7d-f27c91fc8c4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10d0499-780b-4338-be7d-f27c91fc8c49" xsi:nil="true"/>
  </documentManagement>
</p:properties>
</file>

<file path=customXml/itemProps1.xml><?xml version="1.0" encoding="utf-8"?>
<ds:datastoreItem xmlns:ds="http://schemas.openxmlformats.org/officeDocument/2006/customXml" ds:itemID="{A165F4DE-0DA7-4726-9561-CC3F7499F3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0d0499-780b-4338-be7d-f27c91fc8c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36ED88-A015-4968-8BA2-F4EE3FCF88E1}">
  <ds:schemaRefs>
    <ds:schemaRef ds:uri="http://schemas.microsoft.com/sharepoint/v3/contenttype/forms"/>
  </ds:schemaRefs>
</ds:datastoreItem>
</file>

<file path=customXml/itemProps3.xml><?xml version="1.0" encoding="utf-8"?>
<ds:datastoreItem xmlns:ds="http://schemas.openxmlformats.org/officeDocument/2006/customXml" ds:itemID="{85BC6D6E-501E-4425-937B-249D1BFCE294}">
  <ds:schemaRefs>
    <ds:schemaRef ds:uri="810d0499-780b-4338-be7d-f27c91fc8c49"/>
    <ds:schemaRef ds:uri="http://purl.org/dc/terms/"/>
    <ds:schemaRef ds:uri="http://purl.org/dc/elements/1.1/"/>
    <ds:schemaRef ds:uri="http://purl.org/dc/dcmitype/"/>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954</TotalTime>
  <Words>502</Words>
  <Application>Microsoft Office PowerPoint</Application>
  <PresentationFormat>宽屏</PresentationFormat>
  <Paragraphs>30</Paragraphs>
  <Slides>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等线</vt:lpstr>
      <vt:lpstr>等线 Light</vt:lpstr>
      <vt:lpstr>Arial</vt:lpstr>
      <vt:lpstr>Cambria Math</vt:lpstr>
      <vt:lpstr>Office 主题​​</vt:lpstr>
      <vt:lpstr>Frame, Chebyshev conjugate gradient Algorithms </vt:lpstr>
      <vt:lpstr>PowerPoint 演示文稿</vt:lpstr>
      <vt:lpstr>Frame to Undergraduate 3.7</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jliu269@student.ubc.ca</dc:creator>
  <cp:lastModifiedBy>jliu269@student.ubc.ca</cp:lastModifiedBy>
  <cp:revision>2</cp:revision>
  <dcterms:created xsi:type="dcterms:W3CDTF">2026-07-26T04:40:59Z</dcterms:created>
  <dcterms:modified xsi:type="dcterms:W3CDTF">2026-07-27T05:39:01Z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0x0101008C758FF4AED7254A9FE3D1B597C920CC</vt:lpwstr>
  </property>
</Properties>
</file>